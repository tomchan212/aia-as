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394960" y="1234440"/>
            <a:ext cx="1682495" cy="1682495"/>
          </a:xfrm>
          <a:prstGeom prst="ellipse">
            <a:avLst/>
          </a:prstGeom>
          <a:solidFill>
            <a:srgbClr val="FFE4C4"/>
          </a:solidFill>
          <a:ln w="254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512003" y="1117397"/>
            <a:ext cx="1463040" cy="804672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04611" y="1848916"/>
            <a:ext cx="175564" cy="175564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48348" y="1848916"/>
            <a:ext cx="175564" cy="175564"/>
          </a:xfrm>
          <a:prstGeom prst="ellipse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570524" y="2083003"/>
            <a:ext cx="234086" cy="175564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82435" y="2083003"/>
            <a:ext cx="234086" cy="175564"/>
          </a:xfrm>
          <a:prstGeom prst="ellipse">
            <a:avLst/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600" b="1">
                <a:solidFill>
                  <a:srgbClr val="1E293B"/>
                </a:solidFill>
                <a:latin typeface="Microsoft JhengHei"/>
              </a:rPr>
              <a:t>盈御 3 與自願醫保說明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60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CHAN MANDY：方案 A 每年儲蓄保費 HK$ 24,000，供 20 年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方案 B 每年儲蓄保費 HK$ 39,000，供 10 年。兩邊都另加同一列醫療保費。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5623560"/>
            <a:ext cx="5577840" cy="50292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5687568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2019 年 37 歲投保 · 總表由 38 歲起算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醫療保費會隨年齡上升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數字是兩份總表裡的「醫療計劃」欄，兩邊相同。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1828800" cy="16459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38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HK$ 6,056.80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1554480"/>
            <a:ext cx="1828800" cy="16459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3172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HK$ 8,984.80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1828800" cy="16459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HK$ 17,027.20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1828800" cy="16459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70 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HK$ 30,235.20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54480"/>
            <a:ext cx="1828800" cy="16459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80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HK$ 51,560.80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1554480"/>
            <a:ext cx="1828800" cy="16459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5560" y="22402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1E293B"/>
                </a:solidFill>
                <a:latin typeface="Microsoft JhengHei"/>
              </a:rPr>
              <a:t>HK$ 85,424.80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38 歲是 HK$ 6,056.80。100 歲是 HK$ 85,424.80。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這筆保費每年都要繳，方案 A 和方案 B 用的是同一列。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每年有兩筆保費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78350F"/>
                </a:solidFill>
                <a:latin typeface="Microsoft JhengHei"/>
              </a:rPr>
              <a:t>自願醫保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總表的「醫療計劃」。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用來付住院和手術的帳單。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由 38 歲繳到 100 歲，金額逐年增加。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20624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78350F"/>
                </a:solidFill>
                <a:latin typeface="Microsoft JhengHei"/>
              </a:rPr>
              <a:t>盈御 3 儲蓄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總表的「盈御多元貨幣計劃 3」。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方案 A 供 20 年，方案 B 供 10 年。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供完之後這欄是 0，醫療保費仍然繼續。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方案 A：儲蓄保費供 20 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38–57 歲，每年 HK$ 24,000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20 年儲蓄本金 HK$ 480,000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58 歲起這欄是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420624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38 歲連醫療一起是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HK$ 30,056.80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47 歲累計已繳 HK$ 314,233.60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可退保現金價值 HK$ 247,604.70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方案 B：儲蓄保費供 10 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206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38–47 歲，每年 HK$ 39,000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10 年儲蓄本金 HK$ 390,000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48 歲起儲蓄保費是 0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醫療保費繼續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420624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38 歲連醫療一起是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HK$ 45,056.80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47 歲累計已繳 HK$ 464,233.60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可退保現金價值 HK$ 412,674.50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頭 10 年要拿出多少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3657600" cy="3108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78350F"/>
                </a:solidFill>
                <a:latin typeface="Microsoft JhengHei"/>
              </a:rPr>
              <a:t>只計醫療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首年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HK$ 6,056.80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175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 年累計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HK$ 74,233.60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097280"/>
            <a:ext cx="3657600" cy="310896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78350F"/>
                </a:solidFill>
                <a:latin typeface="Microsoft JhengHei"/>
              </a:rPr>
              <a:t>方案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9202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首年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HK$ 30,056.80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0175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 年累計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HK$ 314,233.60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97280"/>
            <a:ext cx="3657600" cy="310896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8016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78350F"/>
                </a:solidFill>
                <a:latin typeface="Microsoft JhengHei"/>
              </a:rPr>
              <a:t>方案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首年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HK$ 45,056.80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 年累計</a:t>
            </a:r>
          </a:p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HK$ 464,233.60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儲蓄保費每年相差 HK$ 15,000，大約每月 HK$ 1,250。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醫療保費兩邊一樣，要另計。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儲蓄本金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9260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24,000 × 20 年</a:t>
            </a:r>
          </a:p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= HK$ 480,000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29260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5544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286000"/>
            <a:ext cx="4937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39,000 × 10 年</a:t>
            </a:r>
          </a:p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= HK$ 390,000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方案 B 的儲蓄本金少 HK$ 90,000。這兩個數未計醫療。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醫療繳到 100 歲，兩邊都是 HK$ 2,343,128.80。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連醫療在內，累計已繳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由 38 歲加到該歲。儲蓄保費停了之後，仍然加上當年的醫療保費。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年齡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325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只計醫療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25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737360"/>
            <a:ext cx="11430000" cy="777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0195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HK$ 241,128.00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90195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HK$ 721,128.00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190195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HK$ 631,128.00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606039"/>
            <a:ext cx="11430000" cy="77724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70631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70 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77063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HK$ 481,453.60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277063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HK$ 961,453.60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770631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HK$ 871,453.60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474720"/>
            <a:ext cx="11430000" cy="777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3931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80 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6393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HK$ 899,338.40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393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HK$ 1,379,338.40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63931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HK$ 1,289,338.40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343400"/>
            <a:ext cx="11430000" cy="77724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0799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90 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0" y="45079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HK$ 1,537,976.80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45079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HK$ 2,017,976.80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50799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HK$ 1,927,976.80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5212079"/>
            <a:ext cx="11430000" cy="77724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376671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37667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HK$ 2,343,128.80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37667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HK$ 2,823,128.80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5376671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HK$ 2,733,128.80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可退保現金價值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總表的「可退保現金價值」。當中有非保證部分。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25880"/>
            <a:ext cx="3703320" cy="2057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A  HK$ 925,515.00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B  HK$ 1,054,160.80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325880"/>
            <a:ext cx="3703320" cy="2057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70 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A  HK$ 1,422,867.45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514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B  HK$ 1,610,788.60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25880"/>
            <a:ext cx="3703320" cy="2057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80 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A  HK$ 2,156,465.65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514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B  HK$ 2,555,245.65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11880"/>
            <a:ext cx="3703320" cy="2057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749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90 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06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A  HK$ 3,519,523.95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00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B  HK$ 4,354,222.30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703320" cy="2057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749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20624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A  HK$ 6,349,323.35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80060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B  HK$ 7,942,355.25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四個年齡放在一起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年齡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8960" y="1051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A 退保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051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E293B"/>
                </a:solidFill>
                <a:latin typeface="Microsoft JhengHei"/>
              </a:rPr>
              <a:t>方案 B 退保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30000" cy="960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830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HK$ 247,604.70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830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HK$ 412,674.50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11430000" cy="9601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880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57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8803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HK$ 761,434.30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8803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HK$ 856,372.20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749039"/>
            <a:ext cx="11430000" cy="9601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77639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977639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HK$ 925,515.00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977639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HK$ 1,054,160.80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846320"/>
            <a:ext cx="11430000" cy="960120"/>
          </a:xfrm>
          <a:prstGeom prst="roundRect">
            <a:avLst/>
          </a:prstGeom>
          <a:solidFill>
            <a:srgbClr val="FFE4E6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0749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0749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HK$ 6,349,323.35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07492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HK$ 7,942,355.25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1E293B"/>
                </a:solidFill>
                <a:latin typeface="Microsoft JhengHei"/>
              </a:rPr>
              <a:t>47 歲仍低於已繳，57 歲高過已繳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7548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方案 A 已繳 HK$ 314,233.60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退保 HK$ 247,604.70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方案 B 已繳 HK$ 464,233.60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退保 HK$ 412,674.50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兩邊的退保價值都還沒有蓋過已繳保費。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577840" cy="47548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57 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方案 A 已繳 HK$ 672,472.00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退保 HK$ 761,434.30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方案 B 已繳 HK$ 582,472.00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退保 HK$ 856,372.20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1E293B"/>
                </a:solidFill>
                <a:latin typeface="Microsoft JhengHei"/>
              </a:rPr>
              <a:t>兩邊的退保價值都高過當時的累計已繳。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可供提取金額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78350F"/>
                </a:solidFill>
                <a:latin typeface="Microsoft JhengHei"/>
              </a:rPr>
              <a:t>兩份總表這一欄的數字相同，由 41 歲列到 79 歲。80 歲起是空白。下面用方案 A 的表。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3566160" cy="2011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47 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HK$ 198,071.20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566160" cy="2011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20116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60 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6517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HK$ 759,126.40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828800"/>
            <a:ext cx="3566160" cy="20116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0116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79 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HK$ 839,047.25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06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70 歲是 HK$ 849,401.40。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這欄不是每年預定領走的金額，總表也沒有列出領走之後還剩多少。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100 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5669280" cy="45720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可退保現金價值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HK$ 6,349,323.35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連醫療在內已繳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HK$ 2,823,128.80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當年醫療保費 HK$ 85,424.80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577840" cy="457200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方案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5029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可退保現金價值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HK$ 7,942,355.25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連醫療在內已繳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HK$ 2,733,128.80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當年醫療保費同樣是 HK$ 85,424.80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保單可以分拆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由第 3 個保單年度終結後，或供款期完結後，以較後者為準，可以申請把一部分保單價值分到另一張保單。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分拆要公司核准。分出來的保單，生效日跟原來那張一樣。</a:t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400" b="0">
                <a:solidFill>
                  <a:srgbClr val="1E293B"/>
                </a:solidFill>
                <a:latin typeface="Microsoft JhengHei"/>
              </a:rPr>
              <a:t>這是產品簡介裡的安排，不是這兩份總表已經辦好的事。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鎖定，以及延繳保費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669280" cy="47548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紅利鎖定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由第 15 個保單年度終結後起，每個年度終結後 30 日內可鎖定一次。比例 10% 至 70%。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鎖定戶口的利息不是保證。鎖定滿一年可以解鎖，比例 10% 至 100%。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51560"/>
            <a:ext cx="5577840" cy="47548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34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93B"/>
                </a:solidFill>
                <a:latin typeface="Microsoft JhengHei"/>
              </a:rPr>
              <a:t>延繳保費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只適用 3 年、5 年及 10 年供款，所以只對方案 B。</a:t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800" b="0">
                <a:solidFill>
                  <a:srgbClr val="1E293B"/>
                </a:solidFill>
                <a:latin typeface="Microsoft JhengHei"/>
              </a:rPr>
              <a:t>指定情況包括被裁、結婚、離婚、子女出生或領養、買入住宅、更改主要居住地。每份保單只可申請一次，寬限期最多 365 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可以更換受保人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由第 1 個保單年度終結後起，受保人在生時，可申請無限次更改受保人，也可以指定第二受保人。要公司批准。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卓越成績獎最高一項，是獲產品簡介所指的全球大學排名首 10 位取錄，獎金 2,800 美元，約 HK$ 21,980（按 7.85）。同一位受保人的所有盈御 3 保單只付一次。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1E293B"/>
                </a:solidFill>
                <a:latin typeface="Microsoft JhengHei"/>
              </a:rPr>
              <a:t>這不是免遺產認證的承諾。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E293B"/>
                </a:solidFill>
                <a:latin typeface="Microsoft JhengHei"/>
              </a:rPr>
              <a:t>怎樣看這兩套安排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5669280" cy="47548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方案 A 較接近的情況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想每年少付 HK$ 15,000 儲蓄保費。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可以接受供到 57 歲。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100 歲的可退保現金價值是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HK$ 6,349,323.35。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097280"/>
            <a:ext cx="5577840" cy="4754880"/>
          </a:xfrm>
          <a:prstGeom prst="roundRect">
            <a:avLst/>
          </a:prstGeom>
          <a:solidFill>
            <a:srgbClr val="FDE047"/>
          </a:solidFill>
          <a:ln w="2857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方案 B 較接近的情況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想 47 歲後不再繳這張儲蓄保單。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儲蓄本金少 HK$ 90,000。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100 歲的可退保現金價值是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1E293B"/>
                </a:solidFill>
                <a:latin typeface="Microsoft JhengHei"/>
              </a:rPr>
              <a:t>HK$ 7,942,355.25。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78350F"/>
                </a:solidFill>
                <a:latin typeface="Microsoft JhengHei"/>
              </a:rPr>
              <a:t>說明數字，不是保證，也不是要約。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>
                <a:solidFill>
                  <a:srgbClr val="1E293B"/>
                </a:solidFill>
                <a:latin typeface="Microsoft JhengHei"/>
              </a:rPr>
              <a:t>17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每一年（38–53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年繳 = 當年儲蓄保費 + 醫療保費。可退保現金價值含非保證部分。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1612878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691640"/>
                <a:gridCol w="1874519"/>
                <a:gridCol w="2148840"/>
                <a:gridCol w="1874519"/>
                <a:gridCol w="21488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醫療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38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HK$ 6,056.80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HK$ 30,056.80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HK$ 45,056.80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39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HK$ 6,228.00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HK$ 30,228.00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HK$ 45,228.00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HK$ 0.00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HK$ 6,482.40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HK$ 30,482.40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HK$ 19,648.55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HK$ 45,482.40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HK$ 32,750.20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HK$ 6,810.40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HK$ 30,810.40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HK$ 40,851.40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HK$ 45,810.40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HK$ 68,083.05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HK$ 7,168.00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HK$ 31,168.00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HK$ 69,001.50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HK$ 46,168.00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HK$ 115,002.50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HK$ 7,544.80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HK$ 31,544.80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HK$ 87,064.35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HK$ 46,544.80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HK$ 145,099.40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HK$ 7,987.20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HK$ 31,987.20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HK$ 119,728.20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HK$ 46,987.20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HK$ 199,539.15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HK$ 8,325.60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HK$ 32,325.60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HK$ 170,368.55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HK$ 47,325.60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HK$ 283,950.20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HK$ 8,645.60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HK$ 32,645.60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HK$ 206,580.60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HK$ 47,645.60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HK$ 344,293.15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2029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HK$ 247,604.70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HK$ 412,674.50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HK$ 9,292.80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HK$ 33,292.80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HK$ 259,944.90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HK$ 9,292.80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HK$ 433,241.50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49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HK$ 9,732.00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HK$ 33,732.00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HK$ 280,700.30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HK$ 9,732.00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HK$ 467,820.75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HK$ 10,154.40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HK$ 34,154.40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HK$ 322,077.65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HK$ 10,154.40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HK$ 504,048.50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HK$ 10,979.20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HK$ 34,979.20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HK$ 367,003.20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HK$ 10,979.20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HK$ 543,581.10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HK$ 11,612.00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HK$ 35,612.00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HK$ 420,571.60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HK$ 11,612.00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HK$ 585,939.70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HK$ 12,084.80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HK$ 36,084.80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HK$ 466,376.35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HK$ 12,084.80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HK$ 632,184.05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每一年（54–69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年繳 = 當年儲蓄保費 + 醫療保費。可退保現金價值含非保證部分。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1612878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691640"/>
                <a:gridCol w="1874519"/>
                <a:gridCol w="2148840"/>
                <a:gridCol w="1874519"/>
                <a:gridCol w="21488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醫療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HK$ 12,632.80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HK$ 36,632.80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HK$ 528,940.85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HK$ 12,632.80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HK$ 682,015.85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HK$ 13,212.80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HK$ 37,212.80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HK$ 611,656.30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HK$ 13,212.80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HK$ 735,474.35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HK$ 13,836.00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HK$ 37,836.00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HK$ 682,502.55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HK$ 13,836.00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HK$ 793,187.55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2039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HK$ 14,701.60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HK$ 38,701.60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HK$ 761,434.30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HK$ 14,701.60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HK$ 856,372.20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HK$ 15,432.80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HK$ 15,432.80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HK$ 812,357.25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HK$ 15,432.80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HK$ 920,671.55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59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HK$ 16,196.00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HK$ 16,196.00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HK$ 878,831.05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HK$ 16,196.00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HK$ 996,871.50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HK$ 17,027.20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HK$ 17,027.20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HK$ 925,515.00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HK$ 17,027.20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HK$ 1,054,160.80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HK$ 18,176.80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HK$ 18,176.80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HK$ 977,654.70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HK$ 18,176.80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HK$ 1,118,083.35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HK$ 19,460.00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HK$ 19,460.00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HK$ 1,026,991.95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HK$ 19,460.00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HK$ 1,175,718.05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HK$ 20,704.00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HK$ 20,704.00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HK$ 1,074,162.60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HK$ 20,704.00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HK$ 1,226,845.10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HK$ 21,959.20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HK$ 21,959.20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HK$ 1,125,744.95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HK$ 21,959.20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HK$ 1,283,161.00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HK$ 23,051.20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HK$ 23,051.20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HK$ 1,165,984.05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HK$ 23,051.20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HK$ 1,328,808.75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HK$ 24,604.00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HK$ 24,604.00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HK$ 1,209,732.10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HK$ 24,604.00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HK$ 1,377,816.30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2049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HK$ 25,984.80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HK$ 25,984.80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HK$ 1,256,973.40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HK$ 25,984.80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HK$ 1,429,500.70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HK$ 27,374.40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HK$ 27,374.40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HK$ 1,305,714.05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HK$ 27,374.40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HK$ 1,484,953.10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69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HK$ 28,776.00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HK$ 28,776.00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HK$ 1,362,461.70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HK$ 28,776.00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HK$ 1,545,570.80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每一年（70–85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年繳 = 當年儲蓄保費 + 醫療保費。可退保現金價值含非保證部分。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1612878" cy="4681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691640"/>
                <a:gridCol w="1874519"/>
                <a:gridCol w="2148840"/>
                <a:gridCol w="1874519"/>
                <a:gridCol w="21488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醫療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HK$ 30,235.20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HK$ 30,235.20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HK$ 1,422,867.45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HK$ 30,235.20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HK$ 1,610,788.60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HK$ 32,052.80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HK$ 32,052.80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HK$ 1,489,616.00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HK$ 32,052.80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HK$ 1,682,011.65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HK$ 34,171.20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HK$ 34,171.20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HK$ 1,555,775.80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HK$ 34,171.20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HK$ 1,759,616.75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HK$ 36,288.80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HK$ 36,288.80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HK$ 1,622,069.05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HK$ 36,288.80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HK$ 1,844,271.15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HK$ 38,404.80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HK$ 38,404.80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HK$ 1,693,943.65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HK$ 38,404.80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HK$ 1,935,166.30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HK$ 40,522.40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HK$ 40,522.40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HK$ 1,756,830.00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HK$ 40,522.40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HK$ 2,018,768.80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HK$ 43,017.60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HK$ 43,017.60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HK$ 1,824,944.45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HK$ 43,017.60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HK$ 2,109,601.15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2059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HK$ 45,153.60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HK$ 45,153.60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HK$ 1,898,310.55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HK$ 45,153.60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HK$ 2,208,314.90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HK$ 47,288.00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HK$ 47,288.00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HK$ 1,977,360.05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HK$ 47,288.00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HK$ 2,314,784.45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79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HK$ 49,424.80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HK$ 49,424.80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HK$ 2,063,615.85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HK$ 49,424.80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HK$ 2,430,619.05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HK$ 51,560.80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HK$ 51,560.80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HK$ 2,156,465.65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HK$ 51,560.80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HK$ 2,555,245.65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HK$ 54,167.20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HK$ 54,167.20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HK$ 2,256,278.40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HK$ 54,167.20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HK$ 2,688,193.25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HK$ 56,322.40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HK$ 56,322.40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HK$ 2,364,058.90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HK$ 56,322.40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HK$ 2,831,024.00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HK$ 58,476.00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HK$ 58,476.00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HK$ 2,480,898.30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HK$ 58,476.00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HK$ 2,985,237.25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HK$ 60,631.20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HK$ 60,631.20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HK$ 2,606,325.60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HK$ 60,631.20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HK$ 3,150,754.50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HK$ 62,787.20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HK$ 62,787.20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HK$ 2,741,753.80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HK$ 62,787.20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HK$ 3,312,676.45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E293B"/>
                </a:solidFill>
                <a:latin typeface="Microsoft JhengHei"/>
              </a:rPr>
              <a:t>附錄 · 每一年（86–100 歲）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3891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78350F"/>
                </a:solidFill>
                <a:latin typeface="Microsoft JhengHei"/>
              </a:rPr>
              <a:t>年繳 = 當年儲蓄保費 + 醫療保費。可退保現金價值含非保證部分。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777240"/>
          <a:ext cx="11612878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51560"/>
                <a:gridCol w="1691640"/>
                <a:gridCol w="1874519"/>
                <a:gridCol w="2148840"/>
                <a:gridCol w="1874519"/>
                <a:gridCol w="21488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年齡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年份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醫療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A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年繳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93B"/>
                          </a:solidFill>
                          <a:latin typeface="Microsoft JhengHei"/>
                        </a:rPr>
                        <a:t>B 退保</a:t>
                      </a:r>
                    </a:p>
                  </a:txBody>
                  <a:tcPr marL="36576" marR="36576" marT="18288" marB="18288">
                    <a:solidFill>
                      <a:srgbClr val="FDE04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HK$ 64,941.60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HK$ 64,941.60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HK$ 2,871,773.35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HK$ 64,941.60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HK$ 3,486,169.30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2069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HK$ 67,096.00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HK$ 67,096.00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HK$ 3,010,859.65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HK$ 67,096.00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HK$ 3,670,479.45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HK$ 69,250.40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HK$ 69,250.40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HK$ 3,162,199.80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HK$ 69,250.40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HK$ 3,871,651.40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89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HK$ 71,405.60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HK$ 71,405.60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HK$ 3,334,177.60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HK$ 71,405.60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HK$ 4,103,838.70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HK$ 73,560.80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HK$ 73,560.80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HK$ 3,519,523.95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HK$ 73,560.80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HK$ 4,354,222.30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HK$ 75,714.40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HK$ 75,714.40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HK$ 3,717,783.55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HK$ 75,714.40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HK$ 4,622,417.55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HK$ 76,766.40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HK$ 76,766.40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HK$ 3,931,751.00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HK$ 76,766.40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HK$ 4,912,318.05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93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HK$ 77,808.80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HK$ 77,808.80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HK$ 4,161,834.50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HK$ 77,808.80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HK$ 5,223,531.30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HK$ 78,878.40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HK$ 78,878.40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HK$ 4,409,517.70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HK$ 78,878.40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HK$ 5,558,938.25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HK$ 79,921.60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HK$ 79,921.60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HK$ 4,675,122.45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HK$ 79,921.60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HK$ 5,918,515.35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HK$ 81,028.00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HK$ 81,028.00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HK$ 4,960,407.15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HK$ 81,028.00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HK$ 6,305,120.00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97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2079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HK$ 82,070.40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HK$ 82,070.40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HK$ 5,265,654.40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HK$ 82,070.40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HK$ 6,719,866.90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HK$ 83,230.40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HK$ 83,230.40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HK$ 5,602,113.25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HK$ 83,230.40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HK$ 7,131,073.45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99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2081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HK$ 84,308.80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HK$ 84,308.80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HK$ 5,962,114.25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HK$ 84,308.80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HK$ 7,523,942.40</a:t>
                      </a:r>
                    </a:p>
                  </a:txBody>
                  <a:tcPr marL="36576" marR="36576" marT="18288" marB="18288">
                    <a:solidFill>
                      <a:srgbClr val="FFE4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100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2082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HK$ 85,424.80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HK$ 85,424.80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HK$ 6,349,323.35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HK$ 85,424.80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E293B"/>
                          </a:solidFill>
                          <a:latin typeface="Microsoft JhengHei"/>
                        </a:rPr>
                        <a:t>HK$ 7,942,355.25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