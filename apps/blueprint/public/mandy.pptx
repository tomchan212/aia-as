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394960" y="1371600"/>
            <a:ext cx="1892807" cy="1892807"/>
          </a:xfrm>
          <a:prstGeom prst="ellipse">
            <a:avLst/>
          </a:prstGeom>
          <a:solidFill>
            <a:srgbClr val="FFE4C4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526633" y="1239927"/>
            <a:ext cx="1645920" cy="905256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5817" y="2062886"/>
            <a:ext cx="197510" cy="19751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0022" y="2062886"/>
            <a:ext cx="197510" cy="19751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592470" y="2326233"/>
            <a:ext cx="263347" cy="197510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43369" y="2326233"/>
            <a:ext cx="263347" cy="197510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E293B"/>
                </a:solidFill>
                <a:latin typeface="Microsoft JhengHei"/>
              </a:rPr>
              <a:t>財富累積與終身醫療說明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CHAN MANDY：方案 A 每年 HK$ 23,550，兩張單接力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方案 B 每年 HK$ 39,250，供 10 年，60 歲起按指定金額提取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5623560"/>
            <a:ext cx="5577840" cy="50292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56875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2019 年 37 歲投保 · 建議書由 38 歲起算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醫療保費會隨年齡上升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下面是先前列出的 AVF 普通房年保費，不是這三份儲蓄建議書裡的數字。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103120" cy="2011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37 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HK$ 7,044.80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103120" cy="201168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194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7432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HK$ 10,689.60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103120" cy="2011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2194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60 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7432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HK$ 14,425.60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103120" cy="201168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194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70 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7432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HK$ 25,001.60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103120" cy="2011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2194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80 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432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HK$ 43,409.60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如果退休後沒有一筆可以動用的錢，這些保費就要從生活開支裡付。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儲蓄保單的作用，是先把錢滾大，再用提取出來的金額去付這張醫療保單。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兩件事一起看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38404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78350F"/>
                </a:solidFill>
                <a:latin typeface="Microsoft JhengHei"/>
              </a:rPr>
              <a:t>自願醫保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用來付住院和手術的帳單。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這裡用的是普通房的年保費。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它每年要繳，而且會隨年齡增加。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38404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78350F"/>
                </a:solidFill>
                <a:latin typeface="Microsoft JhengHei"/>
              </a:rPr>
              <a:t>盈御 3 儲蓄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把保費滾成退保發還金額。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當中大部分是非保證的復歸紅利和終期分紅。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提取之後還剩多少，這三份建議書沒有計算。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E293B"/>
                </a:solidFill>
                <a:latin typeface="Microsoft JhengHei"/>
              </a:rPr>
              <a:t>方案 A：兩張單，一張供完再供下一張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每張每年基本保費 3,000 美元，即 HK$ 23,550。各供 10 年。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第一張建議書由 38 歲起算；第二張由 48 歲起算，不是 47 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5486400" cy="3291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第一張 · Plan 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38–47 歲，每年 HK$ 23,550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10 年本金 HK$ 235,500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47 歲退保發還金額 HK$ 247,604.70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高過已繳的 30,000 美元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94560"/>
            <a:ext cx="5486400" cy="329184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第二張 · Plan 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0175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48–57 歲，每年 HK$ 23,550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10 年本金 HK$ 235,500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57 歲這張單自己的退保發還金額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亦是 HK$ 247,604.70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方案 A：兩張單加在一起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同一年的兩個退保發還金額相加。匯率 1 美元 = 7.85 港元。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1124712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276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只有第一張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HK$ 247,604.70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11247120" cy="82296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57 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42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第一張第 20 年 + 第二張第 10 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HK$ 761,434.30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124712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67 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4564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第一張第 30 年 + 第二張第 20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4290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HK$ 1,542,689.85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06240"/>
            <a:ext cx="11247120" cy="82296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77 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3708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第一張第 40 年 + 第二張第 30 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3434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HK$ 3,033,145.80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20640"/>
            <a:ext cx="1124712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303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52852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第一張第 63 年 + 第二張第 53 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2578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HK$ 14,592,718.25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方案 B：一張單，供 10 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6766560" cy="43891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38–47 歲，每年基本保費 5,000 美元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即 HK$ 39,250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10 年本金 50,000 美元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即 HK$ 392,500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47 歲退保發還金額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52,570 美元 = HK$ 412,674.50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48 歲起這張單不再繳儲蓄保費。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280160"/>
            <a:ext cx="4206240" cy="438912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5544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比方案 A 少付的本金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5603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B7185"/>
                </a:solidFill>
                <a:latin typeface="Microsoft JhengHei"/>
              </a:rPr>
              <a:t>HK$ 78,500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84048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471,000 − 392,500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= 78,500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方案 B：60 歲起的提取節奏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這是指定的領錢方式。Plan B 建議書假設全程沒有提取，所以沒有「領完還剩多少」。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20"/>
            <a:ext cx="2743200" cy="23774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60–63 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每年 HK$ 23,550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4 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45920"/>
            <a:ext cx="2743200" cy="237744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64–74 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3774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每年 HK$ 39,250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00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11 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743200" cy="23774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75–82 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3774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每年 HK$ 54,950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200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8 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645920"/>
            <a:ext cx="2743200" cy="237744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83–100 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3774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每年 HK$ 70,650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3200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18 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891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四段自己加總是 HK$ 2,237,250。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若寫成 227 萬或 HK$ 2,276,500，會多出大約一年的 HK$ 39,250。簡報用四段加總。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1E293B"/>
                </a:solidFill>
                <a:latin typeface="Microsoft JhengHei"/>
              </a:rPr>
              <a:t>60 歲這一年：提取金額高於列出的醫保保費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29260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78350F"/>
                </a:solidFill>
                <a:latin typeface="Microsoft JhengHei"/>
              </a:rPr>
              <a:t>AVF 普通房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HK$ 14,425.60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78350F"/>
                </a:solidFill>
                <a:latin typeface="Microsoft JhengHei"/>
              </a:rPr>
              <a:t>方案 B 提取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HK$ 23,550.00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23,550 − 14,425.60 = 9,124.40。這一年提取金額付完列出的保費後，還剩 HK$ 9,124.40。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這不代表往後每一年都夠。100 歲若仍領 HK$ 70,650，而保費是 HK$ 85,424.80，就差 HK$ 14,774.80。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1E293B"/>
                </a:solidFill>
                <a:latin typeface="Microsoft JhengHei"/>
              </a:rPr>
              <a:t>方案 B 如果不提取，建議書上的退保發還金額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這些數字假設沒有提錢。不能把它們當成「領走養老金之後的餘額」。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37360"/>
            <a:ext cx="3657600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HK$ 412,674.50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737360"/>
            <a:ext cx="3657600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57 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377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HK$ 856,372.20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37360"/>
            <a:ext cx="3657600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65 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377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HK$ 1,508,377.50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840479"/>
            <a:ext cx="3657600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75 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80559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HK$ 2,907,443.75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840479"/>
            <a:ext cx="3657600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97763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85 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480559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HK$ 5,876,682.70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840479"/>
            <a:ext cx="3657600" cy="1920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97763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80559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HK$ 15,880,871.85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前 10 年，每年要拿出多少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293B"/>
                </a:solidFill>
                <a:latin typeface="Microsoft JhengHei"/>
              </a:rPr>
              <a:t>方案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每年 HK$ 23,550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大約每月 HK$ 1,962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486400" cy="365760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293B"/>
                </a:solidFill>
                <a:latin typeface="Microsoft JhengHei"/>
              </a:rPr>
              <a:t>方案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46888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每年 HK$ 39,250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大約每月 HK$ 3,271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相差 HK$ 15,700 一年，大約每月 HK$ 1,308。這只算儲蓄保費，未計醫保。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總共放入的儲蓄本金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3200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方案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1E293B"/>
                </a:solidFill>
                <a:latin typeface="Microsoft JhengHei"/>
              </a:rPr>
              <a:t>23,550 × 20 年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1E293B"/>
                </a:solidFill>
                <a:latin typeface="Microsoft JhengHei"/>
              </a:rPr>
              <a:t>= HK$ 471,000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03520" cy="320040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方案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1E293B"/>
                </a:solidFill>
                <a:latin typeface="Microsoft JhengHei"/>
              </a:rPr>
              <a:t>39,250 × 10 年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1E293B"/>
                </a:solidFill>
                <a:latin typeface="Microsoft JhengHei"/>
              </a:rPr>
              <a:t>= HK$ 392,500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方案 B 少付 HK$ 78,500。建議書另有保費徵費：A 每張每年約 3.05 美元，B 的年繳總保費欄是 5,005.05 美元。上面的本金用基本保費 3,000 和 5,000 美元。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E293B"/>
                </a:solidFill>
                <a:latin typeface="Microsoft JhengHei"/>
              </a:rPr>
              <a:t>若全程不提取，兩邊的退保發還金額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年齡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方案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方案 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11430000" cy="9601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00200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HK$ 247,604.70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A 只有第一張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916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HK$ 412,674.50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560320"/>
            <a:ext cx="11430000" cy="96012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88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57 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97480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HK$ 761,434.30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A 兩張相加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7889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HK$ 856,372.20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30000" cy="9601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67 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794760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HK$ 1,542,689.85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A 兩張相加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8862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HK$ 1,714,746.15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754879"/>
            <a:ext cx="11430000" cy="96012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8347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92039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HK$ 14,592,718.25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A 兩張相加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983479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HK$ 15,880,871.85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保單可以分拆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由第 3 個保單年度終結後，或供款期完結後，以較後者為準，可以申請把一部分保單價值分到另一張保單。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分拆要公司核准。分出來的保單，生效日跟原來那張一樣。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這是產品簡介裡的安排，不是這三份建議書已經辦好的事。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紅利可以鎖定，也可以解鎖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由第 15 個保單年度終結後起，每個年度終結後 30 日內可鎖定一次。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轉到鎖定戶口的復歸紅利和終期分紅，百分比要一樣，不可低於 10%，也不可高於 70%。鎖定戶口的利息不是保證。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鎖定滿一年之後可以解鎖，比例是 10% 至 100%。解鎖和鎖定都會改變以後的非保證金額。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兩項應急安排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669280" cy="45720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精神上無行為能力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由第 3 個保單年度終結後起，可預先指定一名 18 歲或以上的家人，以及保單價值的 10% 至 100%。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每份保單只付一次，要公司批准，付了會減少保單價值。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577840" cy="457200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延繳保費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只適用 3 年、5 年及 10 年供款。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所以只對方案 B 這張 10 年供款的保單，不對供 20 年節奏的兩張方案 A。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指定情況包括被裁、結婚、離婚、子女出生或領養、買入住宅、更改主要居住地。每份保單只可申請一次，寬限期最多 365 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可以更換受保人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由第 1 個保單年度終結後起，受保人在生時，可申請無限次更改受保人，也可以指定第二受保人。要公司批准，並符合當時的年齡和可保利益規則。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卓越成績獎最高一項，是獲產品簡介所指的全球大學排名首 10 位取錄，獎金 2,800 美元，約 HK$ 21,980（按 7.85）。同一位受保人的所有盈御 3 保單只付一次。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這不是免遺產認證的承諾。實際能不能這樣過戶，要看當時的保單條款和適用法律。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怎樣看這兩套安排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7548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方案 A 較接近的情況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想每年少付 HK$ 15,700。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可以接受供款分成兩段，直到 57 歲。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不打算從戶口提錢。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100 歲兩張單合計的退保發還金額，在建議書上是 HK$ 14,592,718.25。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577840" cy="47548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方案 B 較接近的情況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想 47 歲後不再繳這張儲蓄保單。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本金少 HK$ 78,500。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60 歲後按四段金額用錢。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建議書沒有算出提取後還剩多少；不提取的話，100 歲是 HK$ 15,880,871.85。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17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每一年（38–53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港元 = 美元 × 7.85。退保發還金額含非保證紅利。方案 B 的退保欄假設沒有提取。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092708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840"/>
                <a:gridCol w="1554480"/>
                <a:gridCol w="1965960"/>
                <a:gridCol w="1554480"/>
                <a:gridCol w="2468880"/>
                <a:gridCol w="1554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退保發還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退保發還（不提取）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提取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38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39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HK$ 19,648.55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HK$ 32,750.20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HK$ 40,851.40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HK$ 68,083.05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HK$ 69,001.50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HK$ 115,002.50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HK$ 87,064.35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HK$ 145,099.40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HK$ 119,728.20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HK$ 199,539.15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HK$ 170,368.55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HK$ 283,950.20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HK$ 206,580.60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HK$ 344,293.15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HK$ 247,604.70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HK$ 412,674.50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HK$ 259,944.90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HK$ 433,241.50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HK$ 280,700.30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HK$ 467,820.75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HK$ 322,077.65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HK$ 504,048.50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HK$ 367,003.20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HK$ 543,581.10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HK$ 420,571.60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HK$ 585,939.70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HK$ 466,376.35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HK$ 632,184.05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每一年（54–69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港元 = 美元 × 7.85。退保發還金額含非保證紅利。方案 B 的退保欄假設沒有提取。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092708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840"/>
                <a:gridCol w="1554480"/>
                <a:gridCol w="1965960"/>
                <a:gridCol w="1554480"/>
                <a:gridCol w="2468880"/>
                <a:gridCol w="1554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退保發還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退保發還（不提取）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提取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HK$ 528,940.85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HK$ 682,015.85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HK$ 611,656.30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HK$ 735,474.35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HK$ 682,502.55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HK$ 793,187.55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HK$ 761,434.30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HK$ 856,372.20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HK$ 812,357.25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HK$ 920,671.55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HK$ 878,831.05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HK$ 996,871.50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HK$ 949,065.00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HK$ 1,077,710.80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HK$ 1,026,042.10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HK$ 1,166,470.75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HK$ 1,102,037.95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HK$ 1,250,764.05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HK$ 1,177,138.90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HK$ 1,329,687.95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HK$ 23,550.00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HK$ 1,258,535.55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HK$ 1,415,519.85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HK$ 1,346,322.10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HK$ 1,508,377.50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HK$ 1,440,537.80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HK$ 1,607,672.15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HK$ 1,542,689.85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HK$ 1,714,746.15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HK$ 1,648,641.30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HK$ 1,827,024.70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HK$ 1,767,184.15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HK$ 1,948,393.55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每一年（70–85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港元 = 美元 × 7.85。退保發還金額含非保證紅利。方案 B 的退保欄假設沒有提取。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092708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840"/>
                <a:gridCol w="1554480"/>
                <a:gridCol w="1965960"/>
                <a:gridCol w="1554480"/>
                <a:gridCol w="2468880"/>
                <a:gridCol w="1554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退保發還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退保發還（不提取）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提取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HK$ 1,893,836.05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HK$ 2,078,632.90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HK$ 2,031,697.75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HK$ 2,219,650.30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HK$ 2,173,829.85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HK$ 2,372,238.60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HK$ 2,320,405.05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HK$ 2,537,598.85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HK$ 2,478,284.25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HK$ 2,714,906.80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HK$ 39,250.00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HK$ 2,649,524.15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HK$ 2,907,443.75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HK$ 2,833,936.35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HK$ 3,115,484.45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HK$ 3,033,145.80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HK$ 3,340,426.20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HK$ 3,245,849.40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HK$ 3,582,653.65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HK$ 3,476,050.65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HK$ 3,844,945.70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HK$ 3,723,388.45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HK$ 4,126,917.70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HK$ 3,988,781.25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HK$ 4,428,224.25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HK$ 4,274,489.85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HK$ 4,751,809.10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HK$ 54,950.00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HK$ 4,582,987.00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HK$ 5,100,608.15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HK$ 4,913,982.25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HK$ 5,474,958.95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HK$ 5,270,552.80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HK$ 5,876,682.70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每一年（86–100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港元 = 美元 × 7.85。退保發還金額含非保證紅利。方案 B 的退保欄假設沒有提取。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0927080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840"/>
                <a:gridCol w="1554480"/>
                <a:gridCol w="1965960"/>
                <a:gridCol w="1554480"/>
                <a:gridCol w="2468880"/>
                <a:gridCol w="15544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退保發還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年保費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退保發還（不提取）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93B"/>
                          </a:solidFill>
                          <a:latin typeface="Microsoft JhengHei"/>
                        </a:rPr>
                        <a:t>B 提取</a:t>
                      </a:r>
                    </a:p>
                  </a:txBody>
                  <a:tcPr marL="45720" marR="45720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HK$ 5,653,781.95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HK$ 6,307,341.55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HK$ 6,064,015.10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HK$ 6,766,126.95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HK$ 6,508,482.10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HK$ 7,264,672.60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HK$ 7,005,190.85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HK$ 7,830,218.00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HK$ 7,540,262.55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HK$ 8,440,006.00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HK$ 8,063,080.40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HK$ 9,010,065.15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HK$ 8,608,631.85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HK$ 9,595,714.40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93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HK$ 9,192,145.90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HK$ 10,219,444.00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HK$ 9,815,326.00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HK$ 10,883,703.15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HK$ 10,480,833.30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HK$ 11,591,145.15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HK$ 11,191,297.55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HK$ 12,344,572.45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97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HK$ 11,948,006.15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HK$ 13,146,968.05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HK$ 12,759,876.70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HK$ 14,001,519.05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99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2081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HK$ 13,645,278.20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HK$ 14,911,616.65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2082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HK$ 14,592,718.25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HK$ 15,880,871.85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HK$ 70,650.00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